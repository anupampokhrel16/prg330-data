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9F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Air Quality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C9D4FF"/>
                </a:solidFill>
                <a:latin typeface="Calibri"/>
              </a:rPr>
              <a:t>Hourly Readings Across 6 Cities, 2024  |  PRG-330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Team: Aishmita  ·  Aaska  ·  Anupam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Our Storyline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▸  The Problem -- why air quality, and what we set out to answer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▸  The Dataset -- 52,704 hourly readings, 6 cities, one full year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▸  Module 1-5 -- building the Python foundation by hand: variables, operators, loops, functions, file I/O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▸  Module 6-7 -- scaling up with Pandas, NumPy, and Matplotlib to analyze the full dataset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▸  Module 8 -- the findings, what decided each conclusion, and the bottom line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2200" b="0" i="0">
                <a:solidFill>
                  <a:srgbClr val="1A1A2E"/>
                </a:solidFill>
                <a:latin typeface="Calibri"/>
              </a:rPr>
              <a:t>▸  Team Contribution -- how the work was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Story: Why Air Quality?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80"/>
                </a:solidFill>
                <a:latin typeface="Calibri"/>
              </a:rPr>
              <a:t>MODULE 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A1A2E"/>
                </a:solidFill>
                <a:latin typeface="Calibri"/>
              </a:rPr>
              <a:t>Air pollution is one of the largest environmental health risks worldwide — and the risk is not the same everywhere. It changes by city, by season, and by which pollutant is driving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 b="0" i="0">
                <a:solidFill>
                  <a:srgbClr val="1A1A2E"/>
                </a:solidFill>
                <a:latin typeface="Calibri"/>
              </a:rPr>
              <a:t>▸  We had a full year of real hourly data for 6 cities — enough to actually answer, with evidence, questions that usually get answered with guesses.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 b="0" i="0">
                <a:solidFill>
                  <a:srgbClr val="1A1A2E"/>
                </a:solidFill>
                <a:latin typeface="Calibri"/>
              </a:rPr>
              <a:t>▸  So before writing a single line of code, we asked: which city is really the worst? Is pollution predictable by season, or driven by one-off events? Which pollutant matters most?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 b="0" i="0">
                <a:solidFill>
                  <a:srgbClr val="1A1A2E"/>
                </a:solidFill>
                <a:latin typeface="Calibri"/>
              </a:rPr>
              <a:t>▸  And partway through, the data itself raised a problem we had to solve: one full column (CO2) was missing 81.7% of the time. We had to find out why before we could trust any conclusion built on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Identification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80"/>
                </a:solidFill>
                <a:latin typeface="Calibri"/>
              </a:rPr>
              <a:t>MODULE 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555566"/>
                </a:solidFill>
                <a:latin typeface="Calibri"/>
              </a:rPr>
              <a:t>Four concrete questions this project answers: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" cy="6858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28800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Calibri"/>
              </a:rPr>
              <a:t>Which cities have the worst and best air quality — and by how much?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502920" cy="6858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97480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Calibri"/>
              </a:rPr>
              <a:t>Does air quality change predictably across the year, and when is it worst?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502920" cy="6858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66160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Calibri"/>
              </a:rPr>
              <a:t>Are the worst pollution hours spread evenly across the year, or concentrated in specific events?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34840"/>
            <a:ext cx="502920" cy="6858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502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34840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Calibri"/>
              </a:rPr>
              <a:t>Which pollutants are the strongest drivers of the overall Air Quality Index (AQI)?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94960"/>
            <a:ext cx="10607040" cy="100584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"/>
              </a:rPr>
              <a:t>+ a data-quality problem: the CO2 column is missing 81.7% of all rows. Why — and what do we honestly do about it?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80"/>
                </a:solidFill>
                <a:latin typeface="Calibri"/>
              </a:rPr>
              <a:t>MODULE 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▸  52,704 hourly readings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   –  366 days x 24 hours x 6 cities (2024 is a leap year)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▸  6 cities, 6 continents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   –  Brasilia, Cairo, Dubai, London, New York, Sydney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▸  10 columns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   –  Date, City, 7 pollutants, and AQI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42900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822960"/>
              </a:tblGrid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R="76200" marT="38100" marB="3810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6200" marR="76200" marT="38100" marB="3810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76200" marR="76200" marT="38100" marB="38100" anchor="ctr">
                    <a:solidFill>
                      <a:srgbClr val="00008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Carbon Monoxide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ppb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CO2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Carbon Dioxide (from 26 Oct 2024 only)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ppm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NO2 / SO2 / O3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Nitrogen Dioxide / Sulfur Dioxide / Ozone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ppb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PM2.5 / PM10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Fine / coarse particulate matter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ug/m3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AQI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Overall Air Quality Index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0-500 index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dataset_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00088"/>
            <a:ext cx="5394960" cy="24119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39319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555566"/>
                </a:solidFill>
                <a:latin typeface="Calibri"/>
              </a:rPr>
              <a:t>Real screenshot: df.head() in our Jupyter notebook (Module 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389120"/>
            <a:ext cx="5394960" cy="1645920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553712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1A1A2E"/>
                </a:solidFill>
                <a:latin typeface="Calibri"/>
              </a:rPr>
              <a:t>AQI is the column every question in this project comes back to -- the single number that summarizes all seven pollutant readings into one comparable score per hour, which is why city, month, and pollutant comparisons all use it as the common yardstick.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80"/>
                </a:solidFill>
                <a:latin typeface="Calibri"/>
              </a:rPr>
              <a:t>MODULE 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00080"/>
                </a:solidFill>
                <a:latin typeface="Calibri"/>
              </a:rPr>
              <a:t>Find out which city has the worst air quality, why, and what's driving it — using a full year of real hourly data across six cities.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0" i="0">
                <a:solidFill>
                  <a:srgbClr val="1A1A2E"/>
                </a:solidFill>
                <a:latin typeface="Calibri"/>
              </a:rPr>
              <a:t>▸  Rank the six cities by air quality and measure how big the gap actually is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0" i="0">
                <a:solidFill>
                  <a:srgbClr val="1A1A2E"/>
                </a:solidFill>
                <a:latin typeface="Calibri"/>
              </a:rPr>
              <a:t>▸  Check whether pollution follows a predictable pattern across the year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0" i="0">
                <a:solidFill>
                  <a:srgbClr val="1A1A2E"/>
                </a:solidFill>
                <a:latin typeface="Calibri"/>
              </a:rPr>
              <a:t>▸  Find out whether the dataset's worst hours are a trend or a one-off event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0" i="0">
                <a:solidFill>
                  <a:srgbClr val="1A1A2E"/>
                </a:solidFill>
                <a:latin typeface="Calibri"/>
              </a:rPr>
              <a:t>▸  Identify which pollutants most strongly drive the overall AQI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900" b="0" i="0">
                <a:solidFill>
                  <a:srgbClr val="1A1A2E"/>
                </a:solidFill>
                <a:latin typeface="Calibri"/>
              </a:rPr>
              <a:t>▸  Decide, honestly, what to do with a pollutant column (CO2) that's mostly missing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C9D4FF"/>
                </a:solidFill>
                <a:latin typeface="Calibri"/>
              </a:rP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Variables and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D4FF"/>
                </a:solidFill>
                <a:latin typeface="Calibri"/>
              </a:rPr>
              <a:t>Pulling one real observation apart, by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1 -- Variables &amp; Data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80"/>
                </a:solidFill>
                <a:latin typeface="Calibri"/>
              </a:rPr>
              <a:t>MODULE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Every pollutant reading is stored as its own named variable, then checked with type() -- real screenshot from our Jupyter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1_variab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49" y="1923795"/>
            <a:ext cx="9500654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C9D4FF"/>
                </a:solidFill>
                <a:latin typeface="Calibri"/>
              </a:rP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Operators &amp; Conditional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D4FF"/>
                </a:solidFill>
                <a:latin typeface="Calibri"/>
              </a:rPr>
              <a:t>Arithmetic, comparison, logical operators, and a hand-written AQI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2 -- AQI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1970"/>
                </a:solidFill>
                <a:latin typeface="Calibri"/>
              </a:rPr>
              <a:t>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Classifying AQI by hand with an if / elif / else chain using the actual EPA breakpoints -- both Sydney and Dubai run through the same logic.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2_classif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C9D4FF"/>
                </a:solidFill>
                <a:latin typeface="Calibri"/>
              </a:rP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D4FF"/>
                </a:solidFill>
                <a:latin typeface="Calibri"/>
              </a:rPr>
              <a:t>for, conditional for, and while — over 12 real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3 -- The while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1970"/>
                </a:solidFill>
                <a:latin typeface="Calibri"/>
              </a:rPr>
              <a:t>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A while loop stops the instant it finds what it's looking for -- the first sign of the CO2 gap we investigate properly in Module 6.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3_wh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0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C9D4FF"/>
                </a:solidFill>
                <a:latin typeface="Calibri"/>
              </a:rP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D4FF"/>
                </a:solidFill>
                <a:latin typeface="Calibri"/>
              </a:rPr>
              <a:t>Wrapping Module 2 &amp; 3's logic into reusable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4 -- Reusable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B0082"/>
                </a:solidFill>
                <a:latin typeface="Calibri"/>
              </a:rPr>
              <a:t>MODULE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Four functions replace logic that was previously written out by hand: calculate_total, calculate_average, classify_aqi, and is_high_pollution.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4_func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0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C9D4FF"/>
                </a:solidFill>
                <a:latin typeface="Calibri"/>
              </a:rP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File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D4FF"/>
                </a:solidFill>
                <a:latin typeface="Calibri"/>
              </a:rPr>
              <a:t>Reading the real 52,704-row CSV directly with open()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5 -- Reading the Raw 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B0082"/>
                </a:solidFill>
                <a:latin typeface="Calibri"/>
              </a:rPr>
              <a:t>MODULE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No Pandas yet -- open(), readline(), and a loop with break read rows directly from the file and total the AQI column by hand.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5_file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C9D4FF"/>
                </a:solidFill>
                <a:latin typeface="Calibri"/>
              </a:rP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Pandas + NumPy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D4FF"/>
                </a:solidFill>
                <a:latin typeface="Calibri"/>
              </a:rPr>
              <a:t>Scaling up to the full dataset — and the CO2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6 -- The City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80"/>
                </a:solidFill>
                <a:latin typeface="Calibri"/>
              </a:rPr>
              <a:t>MODULE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One groupby call ranks all six cities by average pollutant levels and AQI -- Dubai worst, Brasilia best becomes the project's #1 finding.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6_city_summ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6 -- The CO2 Investigation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80"/>
                </a:solidFill>
                <a:latin typeface="Calibri"/>
              </a:rPr>
              <a:t>MODULE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81.7% of CO2 readings are missing -- but a month-by-month breakdown shows a hard cutoff at 26 Oct 2024 across every city, not random noise.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6_co2_investig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6 -- NumPy Correlations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0080"/>
                </a:solidFill>
                <a:latin typeface="Calibri"/>
              </a:rPr>
              <a:t>MODULE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Switching to NumPy: pollutant columns become arrays, and np.corrcoef() measures how closely PM2.5 and PM10 track AQI -- both clear 0.7.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6_correl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C9D4FF"/>
                </a:solidFill>
                <a:latin typeface="Calibri"/>
              </a:rPr>
              <a:t>MODULE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Matplotlib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D4FF"/>
                </a:solidFill>
                <a:latin typeface="Calibri"/>
              </a:rPr>
              <a:t>Four charts, each answering one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7 -- Chart Code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1970"/>
                </a:solidFill>
                <a:latin typeface="Calibri"/>
              </a:rPr>
              <a:t>MODULE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Every chart follows the same pattern: build it, label every axis with units, add gridlines and data labels, then plt.show().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7_plot_c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7 -- Average AQI by 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1970"/>
                </a:solidFill>
                <a:latin typeface="Calibri"/>
              </a:rPr>
              <a:t>MODULE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Dubai sits well above the other five cities, matching the city_summary table from Module 6.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1_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7 -- Average AQI by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1970"/>
                </a:solidFill>
                <a:latin typeface="Calibri"/>
              </a:rPr>
              <a:t>MODULE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AQI stays in a fairly narrow band all year, with July/August the worst months and October the cleanest.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2_month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7 -- PM2.5 vs AQI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1970"/>
                </a:solidFill>
                <a:latin typeface="Calibri"/>
              </a:rPr>
              <a:t>MODULE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The upward pattern backs up the 0.82 correlation calculated with NumPy in Module 6.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3_scat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7 -- Average Pollutant Levels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91970"/>
                </a:solidFill>
                <a:latin typeface="Calibri"/>
              </a:rPr>
              <a:t>MODULE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50" b="0" i="0">
                <a:solidFill>
                  <a:srgbClr val="1A1A2E"/>
                </a:solidFill>
                <a:latin typeface="Calibri"/>
              </a:rPr>
              <a:t>▸  CO sits on a different scale from the rest -- a unit difference, not 10x more presence in the air.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6364"/>
            <a:ext cx="11274552" cy="4641596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4_polluta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64" y="1923795"/>
            <a:ext cx="10259623" cy="45867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0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C9D4FF"/>
                </a:solidFill>
                <a:latin typeface="Calibri"/>
              </a:rPr>
              <a:t>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D4FF"/>
                </a:solidFill>
                <a:latin typeface="Calibri"/>
              </a:rPr>
              <a:t>Findings, deciding factors, and 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8 -- Major Findings (1-3)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B0082"/>
                </a:solidFill>
                <a:latin typeface="Calibri"/>
              </a:rPr>
              <a:t>MODULE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 b="1" i="0">
                <a:solidFill>
                  <a:srgbClr val="1A1A2E"/>
                </a:solidFill>
                <a:latin typeface="Calibri"/>
              </a:rPr>
              <a:t>▸  1. Dubai has by far the worst air quality, Brasilia the best.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 –  AQI 85.1 (Dubai) vs 24.7 (Brasilia) — a ~60-point gap from city_summary.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1">
                <a:solidFill>
                  <a:srgbClr val="000080"/>
                </a:solidFill>
                <a:latin typeface="Calibri"/>
              </a:rPr>
              <a:t>   –  Deciding factor: that gap dwarfs normal year-to-year variation.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 b="1" i="0">
                <a:solidFill>
                  <a:srgbClr val="1A1A2E"/>
                </a:solidFill>
                <a:latin typeface="Calibri"/>
              </a:rPr>
              <a:t>▸  2. AQI stays fairly steady across the year, worst in Jul/Aug.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 –  36-48 range all year; peaks Aug (48.3), dips Oct (35.9) — a 12-point swing.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1">
                <a:solidFill>
                  <a:srgbClr val="000080"/>
                </a:solidFill>
                <a:latin typeface="Calibri"/>
              </a:rPr>
              <a:t>   –  Deciding factor: a fifth the size of the city-level gap — city matters more than month.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 b="1" i="0">
                <a:solidFill>
                  <a:srgbClr val="1A1A2E"/>
                </a:solidFill>
                <a:latin typeface="Calibri"/>
              </a:rPr>
              <a:t>▸  3. One event drives almost all "Unhealthy" hours.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 –  2,182 of 52,704 hours (4.1%) exceed AQI 100; all top-10 worst hours: Dubai, 18 Aug 2024.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1">
                <a:solidFill>
                  <a:srgbClr val="000080"/>
                </a:solidFill>
                <a:latin typeface="Calibri"/>
              </a:rPr>
              <a:t>   –  Deciding factor: same city AND same date — a single event, not a seasonal trend.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Module 8 -- Major Findings (4-6)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B0082"/>
                </a:solidFill>
                <a:latin typeface="Calibri"/>
              </a:rPr>
              <a:t>MODULE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 b="1" i="0">
                <a:solidFill>
                  <a:srgbClr val="1A1A2E"/>
                </a:solidFill>
                <a:latin typeface="Calibri"/>
              </a:rPr>
              <a:t>▸  4. Particulate matter is strongly linked to AQI.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 –  PM2.5: r = 0.82, PM10: r = 0.85 — both clear the 0.7 "strong correlation" bar.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1">
                <a:solidFill>
                  <a:srgbClr val="000080"/>
                </a:solidFill>
                <a:latin typeface="Calibri"/>
              </a:rPr>
              <a:t>   –  Deciding factor: consistent with AQI being partly calculated from particulate readings.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 b="1" i="0">
                <a:solidFill>
                  <a:srgbClr val="1A1A2E"/>
                </a:solidFill>
                <a:latin typeface="Calibri"/>
              </a:rPr>
              <a:t>▸  5. The missing CO2 data is a monitoring gap, not random noise.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 –  81.7% missing; monitoring started 26 Oct 2024, identically across all six cities.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1">
                <a:solidFill>
                  <a:srgbClr val="000080"/>
                </a:solidFill>
                <a:latin typeface="Calibri"/>
              </a:rPr>
              <a:t>   –  Deciding factor: a hard cutoff at one date is a reporting start date, not sensor drift.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700" b="1" i="0">
                <a:solidFill>
                  <a:srgbClr val="1A1A2E"/>
                </a:solidFill>
                <a:latin typeface="Calibri"/>
              </a:rPr>
              <a:t>▸  6. Even inside the CO2 window, city rankings looked different.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 –  New York highest avg CO2 (~488 ppm), Sydney lowest (~443 ppm) — not the AQI order.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0" i="1">
                <a:solidFill>
                  <a:srgbClr val="000080"/>
                </a:solidFill>
                <a:latin typeface="Calibri"/>
              </a:rPr>
              <a:t>   –  Deciding factor: a pollutant that ranks cities differently can't stand in for overall AQI.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Analysis -- What Actually Decided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2815" y="274320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B0082"/>
                </a:solidFill>
                <a:latin typeface="Calibri"/>
              </a:rPr>
              <a:t>MODULE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B0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468880"/>
                <a:gridCol w="7863840"/>
              </a:tblGrid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76200" marR="76200" marT="38100" marB="3810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Deciding Factor</a:t>
                      </a:r>
                    </a:p>
                  </a:txBody>
                  <a:tcPr marL="76200" marR="76200" marT="38100" marB="3810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Why It Outweighed the Alternatives</a:t>
                      </a:r>
                    </a:p>
                  </a:txBody>
                  <a:tcPr marL="76200" marR="76200" marT="38100" marB="38100" anchor="ctr">
                    <a:solidFill>
                      <a:srgbClr val="00008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City</a:t>
                      </a:r>
                    </a:p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Calibri"/>
                        </a:rPr>
                        <a:t>(~60-pt AQI gap)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Largest source of variation — 4x the month-to-month swing.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A single event</a:t>
                      </a:r>
                    </a:p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Calibri"/>
                        </a:rPr>
                        <a:t>(Dubai, 18 Aug)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All 10 worst hours share one city AND one date — not seasonal.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Particulate correlation</a:t>
                      </a:r>
                    </a:p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Calibri"/>
                        </a:rPr>
                        <a:t>(r = 0.82 / 0.85)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Both clear the "strong correlation" bar; PM10 edges out PM2.5.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Seasonality</a:t>
                      </a:r>
                    </a:p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Calibri"/>
                        </a:rPr>
                        <a:t>(12-pt swing)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Real, but only ~1/5 the size of the city-level gap — secondary.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555566"/>
                </a:solidFill>
                <a:latin typeface="Calibri"/>
              </a:rPr>
              <a:t>This ranking is also why CO2 never entered the table: the data couldn't support including it honestly across the full year, so we under-used a column rather than let ten months of invented values bias the rankings above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0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Final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Dubai has the worst air quality of the six cities studied (AQI 85.1), Brasilia the best (24.7) — a gap big enough that which city you're in matters more than what month it is. Pollution peaks in July/August and dips in October, but that swing is smaller than the gap between cities. Almost all the year's worst hours trace to a single event in Dubai on 18 August 2024, not a general trend. Particulate matter (PM2.5, PM10) is the strongest driver of AQI (r = 0.82 / 0.85). And 81.7% of CO2 readings are missing because monitoring only started in late October — reported honestly rather than guessed 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120640"/>
            <a:ext cx="10515600" cy="1371600"/>
          </a:xfrm>
          <a:prstGeom prst="rect">
            <a:avLst/>
          </a:prstGeom>
          <a:solidFill>
            <a:srgbClr val="3A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257800"/>
            <a:ext cx="10058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D76E"/>
                </a:solidFill>
                <a:latin typeface="Calibri"/>
              </a:rPr>
              <a:t>Bottom line: air quality here is driven far more by WHERE you are than WHEN — and the single worst event we found was a one-off spike in Dubai, not a seasonal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Team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5566"/>
                </a:solidFill>
                <a:latin typeface="Calibri"/>
              </a:rPr>
              <a:t>All three of us contributed an equal, one-third share — each owning a complete stage of the workflow end-to-end.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6309360"/>
                <a:gridCol w="914400"/>
              </a:tblGrid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76200" marR="76200" marT="38100" marB="3810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Modules Owned</a:t>
                      </a:r>
                    </a:p>
                  </a:txBody>
                  <a:tcPr marL="76200" marR="76200" marT="38100" marB="3810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They Built</a:t>
                      </a:r>
                    </a:p>
                  </a:txBody>
                  <a:tcPr marL="76200" marR="76200" marT="38100" marB="38100" anchor="ctr"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Cells</a:t>
                      </a:r>
                    </a:p>
                  </a:txBody>
                  <a:tcPr marL="76200" marR="76200" marT="38100" marB="38100" anchor="ctr">
                    <a:solidFill>
                      <a:srgbClr val="00008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Aishmita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Modules 1-3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Python foundation: variables, operators, conditionals, all 3 loop patterns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Aaska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Modules 4-6 (Pandas)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Functions, file I/O, full Pandas load + missing-value / CO2 investigation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6200" marR="76200" marT="38100" marB="38100" anchor="ctr">
                    <a:solidFill>
                      <a:srgbClr val="F4F5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Anupam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Module 0, 6 (NumPy), 7, 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Problem framing, NumPy analysis, all charts, findings &amp; conclusion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2E"/>
                </a:solidFill>
                <a:latin typeface="Calibri"/>
              </a:rPr>
              <a:t>Each of us wrote exactly 18 markdown explanation cells — equal written analysis as well as equal code. Anupam's modules have the fewest code cells, but bookend the whole notebook with Module 0 (framing every question) and Module 8 (answering all of them). Everyone read through and re-ran the full notebook together before submission.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C9D4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C9D4FF"/>
                </a:solidFill>
                <a:latin typeface="Calibri"/>
              </a:rPr>
              <a:t>Air Quality Data Analysis -- Aishmita · Aaska · Anupam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566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